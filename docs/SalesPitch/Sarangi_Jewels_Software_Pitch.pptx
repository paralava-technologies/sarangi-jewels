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DE6710F-3062-4B63-9C5A-3CEA8BCCAA02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9F0EEF-A9B5-46A4-B885-F28A6F7C5C8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F6500E-2FF2-49AD-A908-D1CCB5A2C2D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3E71C0-BF6C-4F6B-8E79-6E2D19DE54D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7905C6-C4A1-4F55-9791-475F0A07EC2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84FB89-B792-4110-906A-559047DDD01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D65ADE-5CB5-4742-B1E9-AF769F61EC4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B83005-FF96-43B8-A970-85006C6E381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731B63-8085-4BAE-BE08-8D95E666C63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C2240B-5933-427E-94EC-F6FD27FE486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0BBE93-A559-46DF-870F-F07934751A3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DB7F07-184E-465D-9D36-0533E5679FC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B80746-EC33-4BB9-A463-75E5AAF7495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DA8C6E-F39E-4D2A-806D-1CF58B45A13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7B04BF-A694-4AC0-9CD0-1555CAC56D0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2AB766-D0EC-4402-9DFF-6FEF6DDFCC3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58A60C-064F-4FBD-B6CB-B50FCD6F1B7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C1B020-66EE-458C-B4A8-8A781D4E942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83F4AD-F3EE-4BB5-BF31-7175216D6D8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55EEAE-A4C3-434E-8886-A7F8A5C1A1C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A6D08A-25B7-46C8-94D5-EA4A4A4AFE8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9205D8-64D7-4610-9527-1E97EC9C1B1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7E3AEC-759C-4B2F-981B-81DF1201FA9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75BC79-44CD-4638-A69C-8A211DCF4DF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0BEBE7-C3A4-4F85-A1D4-BD2BA1B9906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2845D4-CD20-49E8-9080-E9BACAD008B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6ABAE3-E79D-48B1-8042-6211CC15515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e0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2e0a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8778240" y="-2011680"/>
            <a:ext cx="5942880" cy="5942880"/>
          </a:xfrm>
          <a:prstGeom prst="ellipse">
            <a:avLst/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9692640" y="-1188720"/>
            <a:ext cx="4205520" cy="4205520"/>
          </a:xfrm>
          <a:prstGeom prst="ellipse">
            <a:avLst/>
          </a:prstGeom>
          <a:solidFill>
            <a:srgbClr val="3a10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2331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00" strike="noStrike" u="none">
                <a:solidFill>
                  <a:srgbClr val="d4af37"/>
                </a:solidFill>
                <a:effectLst/>
                <a:uFillTx/>
                <a:latin typeface="Calibri"/>
                <a:ea typeface="Calibri"/>
              </a:rPr>
              <a:t>SARANGI JEWELS  ×  DIGITAL COMMERCE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2697480"/>
            <a:ext cx="86860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From One Beautiful Store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to a Complete Digital Business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4526280"/>
            <a:ext cx="8046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9cbef"/>
                </a:solidFill>
                <a:effectLst/>
                <a:uFillTx/>
                <a:latin typeface="Calibri"/>
                <a:ea typeface="Calibri"/>
              </a:rPr>
              <a:t>A proposal to bring Sarangi Jewels' ornaments, ladies' store and dance-costume rentals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9cbef"/>
                </a:solidFill>
                <a:effectLst/>
                <a:uFillTx/>
                <a:latin typeface="Calibri"/>
                <a:ea typeface="Calibri"/>
              </a:rPr>
              <a:t>online — under one system you fully own and control.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621720" y="5440680"/>
            <a:ext cx="1280160" cy="360"/>
          </a:xfrm>
          <a:prstGeom prst="line">
            <a:avLst/>
          </a:prstGeom>
          <a:ln w="3175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94360" y="562356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b9a6d6"/>
                </a:solidFill>
                <a:effectLst/>
                <a:uFillTx/>
                <a:latin typeface="Calibri"/>
                <a:ea typeface="Calibri"/>
              </a:rPr>
              <a:t>Prepared for the Owner, Sarangi Jewels  |  September 2026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9b7e0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b="0" lang="en-IN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THE OPPORTUNITY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Three businesses, one roof — and one missing piece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48640" y="1828800"/>
            <a:ext cx="3519720" cy="2833920"/>
          </a:xfrm>
          <a:prstGeom prst="roundRect">
            <a:avLst>
              <a:gd name="adj" fmla="val 3226"/>
            </a:avLst>
          </a:prstGeom>
          <a:solidFill>
            <a:srgbClr val="f6f3fa"/>
          </a:solidFill>
          <a:ln w="12700">
            <a:solidFill>
              <a:srgbClr val="e4daf0"/>
            </a:solidFill>
            <a:round/>
          </a:ln>
          <a:effectLst>
            <a:outerShdw algn="bl" blurRad="76320" dir="5400000" dist="25560" kx="0" ky="0" rotWithShape="0" sx="100000" sy="100000">
              <a:srgbClr val="444444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868680" y="2148840"/>
            <a:ext cx="502200" cy="502200"/>
          </a:xfrm>
          <a:prstGeom prst="ellipse">
            <a:avLst/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868680" y="21488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868680" y="2788920"/>
            <a:ext cx="2925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Jewellery &amp; Ornaments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868680" y="3337560"/>
            <a:ext cx="29253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Walk-in only. Sales stop when the shutter comes down, and reach ends at the street.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4343400" y="1828800"/>
            <a:ext cx="3519720" cy="2833920"/>
          </a:xfrm>
          <a:prstGeom prst="roundRect">
            <a:avLst>
              <a:gd name="adj" fmla="val 3226"/>
            </a:avLst>
          </a:prstGeom>
          <a:solidFill>
            <a:srgbClr val="f6f3fa"/>
          </a:solidFill>
          <a:ln w="12700">
            <a:solidFill>
              <a:srgbClr val="e4daf0"/>
            </a:solidFill>
            <a:round/>
          </a:ln>
          <a:effectLst>
            <a:outerShdw algn="bl" blurRad="76320" dir="5400000" dist="25560" kx="0" ky="0" rotWithShape="0" sx="100000" sy="100000">
              <a:srgbClr val="444444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4663440" y="2148840"/>
            <a:ext cx="502200" cy="502200"/>
          </a:xfrm>
          <a:prstGeom prst="ellipse">
            <a:avLst/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4663440" y="21488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4663440" y="2788920"/>
            <a:ext cx="2925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Ladies' Store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663440" y="3337560"/>
            <a:ext cx="29253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New arrivals depend on footfall. No way for regulars to browse or reorder from home.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8138160" y="1828800"/>
            <a:ext cx="3519720" cy="2833920"/>
          </a:xfrm>
          <a:prstGeom prst="roundRect">
            <a:avLst>
              <a:gd name="adj" fmla="val 3226"/>
            </a:avLst>
          </a:prstGeom>
          <a:solidFill>
            <a:srgbClr val="f6f3fa"/>
          </a:solidFill>
          <a:ln w="12700">
            <a:solidFill>
              <a:srgbClr val="e4daf0"/>
            </a:solidFill>
            <a:round/>
          </a:ln>
          <a:effectLst>
            <a:outerShdw algn="bl" blurRad="76320" dir="5400000" dist="25560" kx="0" ky="0" rotWithShape="0" sx="100000" sy="100000">
              <a:srgbClr val="444444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8458200" y="2148840"/>
            <a:ext cx="502200" cy="502200"/>
          </a:xfrm>
          <a:prstGeom prst="ellipse">
            <a:avLst/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8458200" y="21488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8458200" y="2788920"/>
            <a:ext cx="2925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Costume Rentals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8458200" y="3337560"/>
            <a:ext cx="29253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Bookings, availability and returns are tracked manually — easy to double-book or lose track.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548640" y="502920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The fix isn't three separate apps — it's one platform that already understands jewellery, apparel and rentals together.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</a:t>
            </a:r>
            <a:fld id="{727F02DA-93A5-4D82-94C4-4AFFEB6CFB90}" type="slidenum"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THE SOLUTION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One system, five connected experiences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548640" y="1828800"/>
            <a:ext cx="3519720" cy="2056680"/>
          </a:xfrm>
          <a:prstGeom prst="roundRect">
            <a:avLst>
              <a:gd name="adj" fmla="val 4000"/>
            </a:avLst>
          </a:prstGeom>
          <a:solidFill>
            <a:srgbClr val="f6f3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444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822960" y="203004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Customer Website</a:t>
            </a:r>
            <a:endParaRPr b="0" lang="en-IN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822960" y="2514600"/>
            <a:ext cx="3016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Browse, buy and book rentals from any device — a real storefront open 24/7.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5"/>
          <p:cNvSpPr/>
          <p:nvPr/>
        </p:nvSpPr>
        <p:spPr>
          <a:xfrm>
            <a:off x="4343400" y="1828800"/>
            <a:ext cx="3519720" cy="2056680"/>
          </a:xfrm>
          <a:prstGeom prst="roundRect">
            <a:avLst>
              <a:gd name="adj" fmla="val 4000"/>
            </a:avLst>
          </a:prstGeom>
          <a:solidFill>
            <a:srgbClr val="f6f3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444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4617720" y="203004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Customer Mobile App</a:t>
            </a:r>
            <a:endParaRPr b="0" lang="en-IN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4617720" y="2514600"/>
            <a:ext cx="3016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The same catalog and cart in your customers' pocket, with order tracking.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8138160" y="1828800"/>
            <a:ext cx="3519720" cy="2056680"/>
          </a:xfrm>
          <a:prstGeom prst="roundRect">
            <a:avLst>
              <a:gd name="adj" fmla="val 4000"/>
            </a:avLst>
          </a:prstGeom>
          <a:solidFill>
            <a:srgbClr val="f6f3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444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8412480" y="203004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Admin Dashboard</a:t>
            </a:r>
            <a:endParaRPr b="0" lang="en-IN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8412480" y="2514600"/>
            <a:ext cx="3016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You control products, prices, stock, orders and rentals from one screen.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1"/>
          <p:cNvSpPr/>
          <p:nvPr/>
        </p:nvSpPr>
        <p:spPr>
          <a:xfrm>
            <a:off x="548640" y="4160520"/>
            <a:ext cx="3519720" cy="2056680"/>
          </a:xfrm>
          <a:prstGeom prst="roundRect">
            <a:avLst>
              <a:gd name="adj" fmla="val 4000"/>
            </a:avLst>
          </a:prstGeom>
          <a:solidFill>
            <a:srgbClr val="f6f3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444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822960" y="43617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Staff Mobile App</a:t>
            </a:r>
            <a:endParaRPr b="0" lang="en-IN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822960" y="4846320"/>
            <a:ext cx="3016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Your team picks, packs, ships and scans orders on the shop floor.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4343400" y="4160520"/>
            <a:ext cx="3519720" cy="2056680"/>
          </a:xfrm>
          <a:prstGeom prst="roundRect">
            <a:avLst>
              <a:gd name="adj" fmla="val 4000"/>
            </a:avLst>
          </a:prstGeom>
          <a:solidFill>
            <a:srgbClr val="4a148c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444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4617720" y="43617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d4af37"/>
                </a:solidFill>
                <a:effectLst/>
                <a:uFillTx/>
                <a:latin typeface="Cambria"/>
                <a:ea typeface="Cambria"/>
              </a:rPr>
              <a:t>Central Engine</a:t>
            </a:r>
            <a:endParaRPr b="0" lang="en-IN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4617720" y="4846320"/>
            <a:ext cx="3016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9dff7"/>
                </a:solidFill>
                <a:effectLst/>
                <a:uFillTx/>
                <a:latin typeface="Calibri"/>
                <a:ea typeface="Calibri"/>
              </a:rPr>
              <a:t>One backend keeps stock, pricing and bookings in sync everywhere, instantly.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WHAT CUSTOMERS GET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A shopping experience built for jewellery &amp; apparel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548640" y="1828800"/>
            <a:ext cx="383400" cy="38340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548640" y="18288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e0a57"/>
                </a:solidFill>
                <a:effectLst/>
                <a:uFillTx/>
                <a:latin typeface="Calibri"/>
              </a:rPr>
              <a:t>✦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1078920" y="178308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Rich Product Catalog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1078920" y="2167200"/>
            <a:ext cx="4937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Categories, filters, variants and detailed product pages for ornaments and apparel.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6172200" y="1828800"/>
            <a:ext cx="383400" cy="38340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6172200" y="18288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e0a57"/>
                </a:solidFill>
                <a:effectLst/>
                <a:uFillTx/>
                <a:latin typeface="Calibri"/>
              </a:rPr>
              <a:t>✦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6702480" y="178308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Cart &amp; Secure Checkout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6702480" y="2167200"/>
            <a:ext cx="4937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Guest or account checkout with live stock checks before an order confirms.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48640" y="3337560"/>
            <a:ext cx="383400" cy="38340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548640" y="33375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e0a57"/>
                </a:solidFill>
                <a:effectLst/>
                <a:uFillTx/>
                <a:latin typeface="Calibri"/>
              </a:rPr>
              <a:t>✦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1078920" y="329184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Online Payments + COD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1078920" y="3675960"/>
            <a:ext cx="4937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Card/UPI payments via Razorpay, with Cash-on-Delivery for local customers.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6172200" y="3337560"/>
            <a:ext cx="383400" cy="38340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6172200" y="33375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e0a57"/>
                </a:solidFill>
                <a:effectLst/>
                <a:uFillTx/>
                <a:latin typeface="Calibri"/>
              </a:rPr>
              <a:t>✦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6702480" y="329184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Wishlist &amp; Reviews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7"/>
          <p:cNvSpPr/>
          <p:nvPr/>
        </p:nvSpPr>
        <p:spPr>
          <a:xfrm>
            <a:off x="6702480" y="3675960"/>
            <a:ext cx="4937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Customers save favourites and leave ratings — built-in word of mouth.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548640" y="4846320"/>
            <a:ext cx="383400" cy="38340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548640" y="48463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e0a57"/>
                </a:solidFill>
                <a:effectLst/>
                <a:uFillTx/>
                <a:latin typeface="Calibri"/>
              </a:rPr>
              <a:t>✦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1078920" y="480060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Order Tracking &amp; Returns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1078920" y="5184720"/>
            <a:ext cx="4937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Live order status, history, and a structured returns/exchange flow.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6172200" y="4846320"/>
            <a:ext cx="383400" cy="38340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3"/>
          <p:cNvSpPr/>
          <p:nvPr/>
        </p:nvSpPr>
        <p:spPr>
          <a:xfrm>
            <a:off x="6172200" y="48463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e0a57"/>
                </a:solidFill>
                <a:effectLst/>
                <a:uFillTx/>
                <a:latin typeface="Calibri"/>
              </a:rPr>
              <a:t>✦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4"/>
          <p:cNvSpPr/>
          <p:nvPr/>
        </p:nvSpPr>
        <p:spPr>
          <a:xfrm>
            <a:off x="6702480" y="480060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WhatsApp Commerce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5"/>
          <p:cNvSpPr/>
          <p:nvPr/>
        </p:nvSpPr>
        <p:spPr>
          <a:xfrm>
            <a:off x="6702480" y="5184720"/>
            <a:ext cx="4937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Order updates and support conversations on the channel customers already use.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6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BUILT FOR YOUR BUSINESS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A dedicated engine for dance-costume rentals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685800" y="2103120"/>
            <a:ext cx="1828080" cy="1370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4a14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685800" y="169164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758880" y="2103120"/>
            <a:ext cx="16819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Customer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Browses &amp; Books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2514600" y="2331720"/>
            <a:ext cx="3834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d4af37"/>
                </a:solidFill>
                <a:effectLst/>
                <a:uFillTx/>
                <a:latin typeface="Calibri"/>
              </a:rPr>
              <a:t>→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2898720" y="2103120"/>
            <a:ext cx="1828080" cy="1370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4a14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2898720" y="169164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2971800" y="2103120"/>
            <a:ext cx="16819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Availability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Auto-Checked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4727520" y="2331720"/>
            <a:ext cx="3834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d4af37"/>
                </a:solidFill>
                <a:effectLst/>
                <a:uFillTx/>
                <a:latin typeface="Calibri"/>
              </a:rPr>
              <a:t>→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0"/>
          <p:cNvSpPr/>
          <p:nvPr/>
        </p:nvSpPr>
        <p:spPr>
          <a:xfrm>
            <a:off x="5111640" y="2103120"/>
            <a:ext cx="1828080" cy="1370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4a14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5111640" y="169164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5184720" y="2103120"/>
            <a:ext cx="16819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Pickup / Delivery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Scheduled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6940440" y="2331720"/>
            <a:ext cx="3834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d4af37"/>
                </a:solidFill>
                <a:effectLst/>
                <a:uFillTx/>
                <a:latin typeface="Calibri"/>
              </a:rPr>
              <a:t>→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4"/>
          <p:cNvSpPr/>
          <p:nvPr/>
        </p:nvSpPr>
        <p:spPr>
          <a:xfrm>
            <a:off x="7324200" y="2103120"/>
            <a:ext cx="1828080" cy="1370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4a14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7324200" y="169164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4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6"/>
          <p:cNvSpPr/>
          <p:nvPr/>
        </p:nvSpPr>
        <p:spPr>
          <a:xfrm>
            <a:off x="7397640" y="2103120"/>
            <a:ext cx="16819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Return &amp;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Condition Check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7"/>
          <p:cNvSpPr/>
          <p:nvPr/>
        </p:nvSpPr>
        <p:spPr>
          <a:xfrm>
            <a:off x="9153000" y="2331720"/>
            <a:ext cx="3834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d4af37"/>
                </a:solidFill>
                <a:effectLst/>
                <a:uFillTx/>
                <a:latin typeface="Calibri"/>
              </a:rPr>
              <a:t>→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8"/>
          <p:cNvSpPr/>
          <p:nvPr/>
        </p:nvSpPr>
        <p:spPr>
          <a:xfrm>
            <a:off x="9537120" y="2103120"/>
            <a:ext cx="1828080" cy="1370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4a14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9"/>
          <p:cNvSpPr/>
          <p:nvPr/>
        </p:nvSpPr>
        <p:spPr>
          <a:xfrm>
            <a:off x="9537120" y="169164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5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0"/>
          <p:cNvSpPr/>
          <p:nvPr/>
        </p:nvSpPr>
        <p:spPr>
          <a:xfrm>
            <a:off x="9610200" y="2103120"/>
            <a:ext cx="16819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Deposit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Settled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1"/>
          <p:cNvSpPr/>
          <p:nvPr/>
        </p:nvSpPr>
        <p:spPr>
          <a:xfrm>
            <a:off x="685800" y="3977640"/>
            <a:ext cx="107892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Inventory is shared across ornaments, apparel and rental stock — so a costume that's rented out is instantly marked unavailable everywhere, and returns automatically release it back for sale or the next booking.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2"/>
          <p:cNvSpPr/>
          <p:nvPr/>
        </p:nvSpPr>
        <p:spPr>
          <a:xfrm>
            <a:off x="685800" y="5120640"/>
            <a:ext cx="10789200" cy="1050840"/>
          </a:xfrm>
          <a:prstGeom prst="roundRect">
            <a:avLst>
              <a:gd name="adj" fmla="val 6957"/>
            </a:avLst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3"/>
          <p:cNvSpPr/>
          <p:nvPr/>
        </p:nvSpPr>
        <p:spPr>
          <a:xfrm>
            <a:off x="1005840" y="5120640"/>
            <a:ext cx="101491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Multi-location inventory  •  Serial / batch tracking for high-value pieces  •  Automated low-stock alerts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4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RUNNING THE BUSINESS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Everything the owner needs, in one dashboard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548640" y="1828800"/>
            <a:ext cx="3519720" cy="1919520"/>
          </a:xfrm>
          <a:prstGeom prst="roundRect">
            <a:avLst>
              <a:gd name="adj" fmla="val 4286"/>
            </a:avLst>
          </a:prstGeom>
          <a:solidFill>
            <a:srgbClr val="f6f3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444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804600" y="2057400"/>
            <a:ext cx="291960" cy="29196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804600" y="245052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Orders &amp; Fulfillment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804600" y="285300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Track every order from placed to shipped; staff app handles pick, pack, ship.</a:t>
            </a:r>
            <a:endParaRPr b="0" lang="en-IN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6"/>
          <p:cNvSpPr/>
          <p:nvPr/>
        </p:nvSpPr>
        <p:spPr>
          <a:xfrm>
            <a:off x="4343400" y="1828800"/>
            <a:ext cx="3519720" cy="1919520"/>
          </a:xfrm>
          <a:prstGeom prst="roundRect">
            <a:avLst>
              <a:gd name="adj" fmla="val 4286"/>
            </a:avLst>
          </a:prstGeom>
          <a:solidFill>
            <a:srgbClr val="f6f3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444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4599360" y="2057400"/>
            <a:ext cx="291960" cy="29196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4599360" y="245052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Products &amp; Pricing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4599360" y="285300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Add products, update prices and images without touching any code.</a:t>
            </a:r>
            <a:endParaRPr b="0" lang="en-IN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0"/>
          <p:cNvSpPr/>
          <p:nvPr/>
        </p:nvSpPr>
        <p:spPr>
          <a:xfrm>
            <a:off x="8138160" y="1828800"/>
            <a:ext cx="3519720" cy="1919520"/>
          </a:xfrm>
          <a:prstGeom prst="roundRect">
            <a:avLst>
              <a:gd name="adj" fmla="val 4286"/>
            </a:avLst>
          </a:prstGeom>
          <a:solidFill>
            <a:srgbClr val="f6f3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444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1"/>
          <p:cNvSpPr/>
          <p:nvPr/>
        </p:nvSpPr>
        <p:spPr>
          <a:xfrm>
            <a:off x="8394120" y="2057400"/>
            <a:ext cx="291960" cy="29196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8394120" y="245052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Promotions &amp; Coupons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8394120" y="285300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Run festive discounts, automatic offers and member pricing when you want to.</a:t>
            </a:r>
            <a:endParaRPr b="0" lang="en-IN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4"/>
          <p:cNvSpPr/>
          <p:nvPr/>
        </p:nvSpPr>
        <p:spPr>
          <a:xfrm>
            <a:off x="548640" y="3977640"/>
            <a:ext cx="3519720" cy="1919520"/>
          </a:xfrm>
          <a:prstGeom prst="roundRect">
            <a:avLst>
              <a:gd name="adj" fmla="val 4286"/>
            </a:avLst>
          </a:prstGeom>
          <a:solidFill>
            <a:srgbClr val="f6f3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444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5"/>
          <p:cNvSpPr/>
          <p:nvPr/>
        </p:nvSpPr>
        <p:spPr>
          <a:xfrm>
            <a:off x="804600" y="4206240"/>
            <a:ext cx="291960" cy="29196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6"/>
          <p:cNvSpPr/>
          <p:nvPr/>
        </p:nvSpPr>
        <p:spPr>
          <a:xfrm>
            <a:off x="804600" y="459936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Reports &amp; Analytics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804600" y="500184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See what's selling, best customers, and revenue trends at a glance.</a:t>
            </a:r>
            <a:endParaRPr b="0" lang="en-IN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8"/>
          <p:cNvSpPr/>
          <p:nvPr/>
        </p:nvSpPr>
        <p:spPr>
          <a:xfrm>
            <a:off x="4343400" y="3977640"/>
            <a:ext cx="3519720" cy="1919520"/>
          </a:xfrm>
          <a:prstGeom prst="roundRect">
            <a:avLst>
              <a:gd name="adj" fmla="val 4286"/>
            </a:avLst>
          </a:prstGeom>
          <a:solidFill>
            <a:srgbClr val="f6f3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444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9"/>
          <p:cNvSpPr/>
          <p:nvPr/>
        </p:nvSpPr>
        <p:spPr>
          <a:xfrm>
            <a:off x="4599360" y="4206240"/>
            <a:ext cx="291960" cy="29196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4599360" y="459936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Staff Roles &amp; Access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1"/>
          <p:cNvSpPr/>
          <p:nvPr/>
        </p:nvSpPr>
        <p:spPr>
          <a:xfrm>
            <a:off x="4599360" y="500184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Separate logins for admin, fulfillment and support — no shared passwords.</a:t>
            </a:r>
            <a:endParaRPr b="0" lang="en-IN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2"/>
          <p:cNvSpPr/>
          <p:nvPr/>
        </p:nvSpPr>
        <p:spPr>
          <a:xfrm>
            <a:off x="8138160" y="3977640"/>
            <a:ext cx="3519720" cy="1919520"/>
          </a:xfrm>
          <a:prstGeom prst="roundRect">
            <a:avLst>
              <a:gd name="adj" fmla="val 4286"/>
            </a:avLst>
          </a:prstGeom>
          <a:solidFill>
            <a:srgbClr val="f6f3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4444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3"/>
          <p:cNvSpPr/>
          <p:nvPr/>
        </p:nvSpPr>
        <p:spPr>
          <a:xfrm>
            <a:off x="8394120" y="4206240"/>
            <a:ext cx="291960" cy="29196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8394120" y="459936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Customer Records (CRM)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5"/>
          <p:cNvSpPr/>
          <p:nvPr/>
        </p:nvSpPr>
        <p:spPr>
          <a:xfrm>
            <a:off x="8394120" y="500184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A running history of every customer's purchases and rentals.</a:t>
            </a:r>
            <a:endParaRPr b="0" lang="en-IN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6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e0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d4af37"/>
                </a:solidFill>
                <a:effectLst/>
                <a:uFillTx/>
                <a:latin typeface="Calibri"/>
                <a:ea typeface="Calibri"/>
              </a:rPr>
              <a:t>WHY IT'S DEPENDABLE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Built on the same technology as major online stores</a:t>
            </a:r>
            <a:endParaRPr b="0" lang="en-IN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"/>
          <p:cNvSpPr/>
          <p:nvPr/>
        </p:nvSpPr>
        <p:spPr>
          <a:xfrm>
            <a:off x="640080" y="1965960"/>
            <a:ext cx="5211360" cy="1690920"/>
          </a:xfrm>
          <a:prstGeom prst="roundRect">
            <a:avLst>
              <a:gd name="adj" fmla="val 4865"/>
            </a:avLst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960120" y="214884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d4af37"/>
                </a:solidFill>
                <a:effectLst/>
                <a:uFillTx/>
                <a:latin typeface="Cambria"/>
                <a:ea typeface="Cambria"/>
              </a:rPr>
              <a:t>Bank-Grade Payments</a:t>
            </a:r>
            <a:endParaRPr b="0" lang="en-IN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960120" y="2587680"/>
            <a:ext cx="45712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dff7"/>
                </a:solidFill>
                <a:effectLst/>
                <a:uFillTx/>
                <a:latin typeface="Calibri"/>
                <a:ea typeface="Calibri"/>
              </a:rPr>
              <a:t>Razorpay integration with signature-verified transactions — the same rails used by leading Indian retailers.</a:t>
            </a:r>
            <a:endParaRPr b="0" lang="en-IN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5"/>
          <p:cNvSpPr/>
          <p:nvPr/>
        </p:nvSpPr>
        <p:spPr>
          <a:xfrm>
            <a:off x="6172200" y="1965960"/>
            <a:ext cx="5211360" cy="1690920"/>
          </a:xfrm>
          <a:prstGeom prst="roundRect">
            <a:avLst>
              <a:gd name="adj" fmla="val 4865"/>
            </a:avLst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6492240" y="214884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d4af37"/>
                </a:solidFill>
                <a:effectLst/>
                <a:uFillTx/>
                <a:latin typeface="Cambria"/>
                <a:ea typeface="Cambria"/>
              </a:rPr>
              <a:t>Encrypted Accounts</a:t>
            </a:r>
            <a:endParaRPr b="0" lang="en-IN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6492240" y="2587680"/>
            <a:ext cx="45712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dff7"/>
                </a:solidFill>
                <a:effectLst/>
                <a:uFillTx/>
                <a:latin typeface="Calibri"/>
                <a:ea typeface="Calibri"/>
              </a:rPr>
              <a:t>Passwords are hashed, never stored in plain text; secure staff and customer logins.</a:t>
            </a:r>
            <a:endParaRPr b="0" lang="en-IN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640080" y="3931920"/>
            <a:ext cx="5211360" cy="1690920"/>
          </a:xfrm>
          <a:prstGeom prst="roundRect">
            <a:avLst>
              <a:gd name="adj" fmla="val 4865"/>
            </a:avLst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960120" y="411480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d4af37"/>
                </a:solidFill>
                <a:effectLst/>
                <a:uFillTx/>
                <a:latin typeface="Cambria"/>
                <a:ea typeface="Cambria"/>
              </a:rPr>
              <a:t>Built To Scale</a:t>
            </a:r>
            <a:endParaRPr b="0" lang="en-IN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960120" y="4553640"/>
            <a:ext cx="45712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dff7"/>
                </a:solidFill>
                <a:effectLst/>
                <a:uFillTx/>
                <a:latin typeface="Calibri"/>
                <a:ea typeface="Calibri"/>
              </a:rPr>
              <a:t>Modern cloud-ready architecture that grows from one shop to multiple outlets.</a:t>
            </a:r>
            <a:endParaRPr b="0" lang="en-IN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6172200" y="3931920"/>
            <a:ext cx="5211360" cy="1690920"/>
          </a:xfrm>
          <a:prstGeom prst="roundRect">
            <a:avLst>
              <a:gd name="adj" fmla="val 4865"/>
            </a:avLst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6492240" y="411480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d4af37"/>
                </a:solidFill>
                <a:effectLst/>
                <a:uFillTx/>
                <a:latin typeface="Cambria"/>
                <a:ea typeface="Cambria"/>
              </a:rPr>
              <a:t>You Own It</a:t>
            </a:r>
            <a:endParaRPr b="0" lang="en-IN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6492240" y="4553640"/>
            <a:ext cx="45712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dff7"/>
                </a:solidFill>
                <a:effectLst/>
                <a:uFillTx/>
                <a:latin typeface="Calibri"/>
                <a:ea typeface="Calibri"/>
              </a:rPr>
              <a:t>Runs on your own server or hosting — no dependence on a third-party SaaS subscription.</a:t>
            </a:r>
            <a:endParaRPr b="0" lang="en-IN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9b7e0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b="0" lang="en-IN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27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THE BUSINESS CASE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8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What this changes for Sarangi Jewels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6"/>
          <p:cNvSpPr/>
          <p:nvPr/>
        </p:nvSpPr>
        <p:spPr>
          <a:xfrm>
            <a:off x="548640" y="1828800"/>
            <a:ext cx="2605320" cy="1828080"/>
          </a:xfrm>
          <a:prstGeom prst="roundRect">
            <a:avLst>
              <a:gd name="adj" fmla="val 5000"/>
            </a:avLst>
          </a:prstGeom>
          <a:solidFill>
            <a:srgbClr val="f6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9"/>
          <p:cNvSpPr/>
          <p:nvPr/>
        </p:nvSpPr>
        <p:spPr>
          <a:xfrm>
            <a:off x="548640" y="1965960"/>
            <a:ext cx="260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24/7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0"/>
          <p:cNvSpPr/>
          <p:nvPr/>
        </p:nvSpPr>
        <p:spPr>
          <a:xfrm>
            <a:off x="731520" y="2743200"/>
            <a:ext cx="2239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Store stays open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beyond shop hours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7"/>
          <p:cNvSpPr/>
          <p:nvPr/>
        </p:nvSpPr>
        <p:spPr>
          <a:xfrm>
            <a:off x="3383280" y="1828800"/>
            <a:ext cx="2605320" cy="1828080"/>
          </a:xfrm>
          <a:prstGeom prst="roundRect">
            <a:avLst>
              <a:gd name="adj" fmla="val 5000"/>
            </a:avLst>
          </a:prstGeom>
          <a:solidFill>
            <a:srgbClr val="f6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1"/>
          <p:cNvSpPr/>
          <p:nvPr/>
        </p:nvSpPr>
        <p:spPr>
          <a:xfrm>
            <a:off x="3383280" y="1965960"/>
            <a:ext cx="260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3-in-1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2"/>
          <p:cNvSpPr/>
          <p:nvPr/>
        </p:nvSpPr>
        <p:spPr>
          <a:xfrm>
            <a:off x="3566160" y="2743200"/>
            <a:ext cx="2239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Jewellery, apparel and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rentals, one system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0"/>
          <p:cNvSpPr/>
          <p:nvPr/>
        </p:nvSpPr>
        <p:spPr>
          <a:xfrm>
            <a:off x="6217920" y="1828800"/>
            <a:ext cx="2605320" cy="1828080"/>
          </a:xfrm>
          <a:prstGeom prst="roundRect">
            <a:avLst>
              <a:gd name="adj" fmla="val 5000"/>
            </a:avLst>
          </a:prstGeom>
          <a:solidFill>
            <a:srgbClr val="f6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3"/>
          <p:cNvSpPr/>
          <p:nvPr/>
        </p:nvSpPr>
        <p:spPr>
          <a:xfrm>
            <a:off x="6217920" y="1965960"/>
            <a:ext cx="260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0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4"/>
          <p:cNvSpPr/>
          <p:nvPr/>
        </p:nvSpPr>
        <p:spPr>
          <a:xfrm>
            <a:off x="6400800" y="2743200"/>
            <a:ext cx="2239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Double-bookings once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rental stock is live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1"/>
          <p:cNvSpPr/>
          <p:nvPr/>
        </p:nvSpPr>
        <p:spPr>
          <a:xfrm>
            <a:off x="9052560" y="1828800"/>
            <a:ext cx="2605320" cy="1828080"/>
          </a:xfrm>
          <a:prstGeom prst="roundRect">
            <a:avLst>
              <a:gd name="adj" fmla="val 5000"/>
            </a:avLst>
          </a:prstGeom>
          <a:solidFill>
            <a:srgbClr val="f6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5"/>
          <p:cNvSpPr/>
          <p:nvPr/>
        </p:nvSpPr>
        <p:spPr>
          <a:xfrm>
            <a:off x="9052560" y="1965960"/>
            <a:ext cx="260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6"/>
          <p:cNvSpPr/>
          <p:nvPr/>
        </p:nvSpPr>
        <p:spPr>
          <a:xfrm>
            <a:off x="9235440" y="2743200"/>
            <a:ext cx="2239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Dashboard to run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the entire business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7"/>
          <p:cNvSpPr/>
          <p:nvPr/>
        </p:nvSpPr>
        <p:spPr>
          <a:xfrm>
            <a:off x="548640" y="5679360"/>
            <a:ext cx="110635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Beyond convenience, this is a growth channel: new customers who never walk past your shop can now find, browse and buy from Sarangi Jewels — and every sale is recorded, not remembered.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8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"/>
          <p:cNvSpPr/>
          <p:nvPr/>
        </p:nvSpPr>
        <p:spPr>
          <a:xfrm>
            <a:off x="3348000" y="3851280"/>
            <a:ext cx="5472000" cy="1828080"/>
          </a:xfrm>
          <a:prstGeom prst="roundRect">
            <a:avLst>
              <a:gd name="adj" fmla="val 5000"/>
            </a:avLst>
          </a:prstGeom>
          <a:solidFill>
            <a:srgbClr val="f6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65" name="Text 102"/>
          <p:cNvSpPr/>
          <p:nvPr/>
        </p:nvSpPr>
        <p:spPr>
          <a:xfrm>
            <a:off x="3780000" y="3917880"/>
            <a:ext cx="4860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4a148c"/>
                </a:solidFill>
                <a:effectLst/>
                <a:uFillTx/>
                <a:latin typeface="Cambria"/>
                <a:ea typeface="Cambria"/>
              </a:rPr>
              <a:t>New Feature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66" name="Text 103"/>
          <p:cNvSpPr/>
          <p:nvPr/>
        </p:nvSpPr>
        <p:spPr>
          <a:xfrm>
            <a:off x="3780000" y="4673880"/>
            <a:ext cx="4500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Make session can be booked in Sarangi Portal and managed from the admin office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44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0"/>
          <p:cNvSpPr/>
          <p:nvPr/>
        </p:nvSpPr>
        <p:spPr>
          <a:xfrm>
            <a:off x="548640" y="713160"/>
            <a:ext cx="43113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Store Front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71"/>
          <p:cNvSpPr/>
          <p:nvPr/>
        </p:nvSpPr>
        <p:spPr>
          <a:xfrm>
            <a:off x="3060000" y="720000"/>
            <a:ext cx="6264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The one-page design for the store front which is premium styled to match our domain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2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9720000" y="360"/>
            <a:ext cx="203328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" descr=""/>
          <p:cNvPicPr/>
          <p:nvPr/>
        </p:nvPicPr>
        <p:blipFill>
          <a:blip r:embed="rId2"/>
          <a:stretch/>
        </p:blipFill>
        <p:spPr>
          <a:xfrm>
            <a:off x="567360" y="2160000"/>
            <a:ext cx="8972640" cy="452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22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9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Products List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2"/>
          <p:cNvSpPr/>
          <p:nvPr/>
        </p:nvSpPr>
        <p:spPr>
          <a:xfrm>
            <a:off x="540000" y="1980000"/>
            <a:ext cx="359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View the list of products available in the store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3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5940000" y="360"/>
            <a:ext cx="47840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74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5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Rental Items List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6"/>
          <p:cNvSpPr/>
          <p:nvPr/>
        </p:nvSpPr>
        <p:spPr>
          <a:xfrm>
            <a:off x="540000" y="1980000"/>
            <a:ext cx="5940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View the list of rentals available in the store</a:t>
            </a:r>
            <a:br>
              <a:rPr sz="1500"/>
            </a:b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Customers get to choose the items for rental and add to the rental order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7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6840000" y="0"/>
            <a:ext cx="33973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78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79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Product Details View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80"/>
          <p:cNvSpPr/>
          <p:nvPr/>
        </p:nvSpPr>
        <p:spPr>
          <a:xfrm>
            <a:off x="540000" y="1980000"/>
            <a:ext cx="5940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View the Product Details for the selected product</a:t>
            </a:r>
            <a:br>
              <a:rPr sz="1500"/>
            </a:b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Customer can choose to buy or rent the product</a:t>
            </a:r>
            <a:br>
              <a:rPr sz="1500"/>
            </a:b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The items are added to cart for checkout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1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6364800" y="360"/>
            <a:ext cx="42552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82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83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Product Details View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84"/>
          <p:cNvSpPr/>
          <p:nvPr/>
        </p:nvSpPr>
        <p:spPr>
          <a:xfrm>
            <a:off x="540000" y="1980000"/>
            <a:ext cx="5940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View the Product Details for the selected product</a:t>
            </a:r>
            <a:br>
              <a:rPr sz="1500"/>
            </a:b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Customer can choose to buy or rent the product</a:t>
            </a:r>
            <a:br>
              <a:rPr sz="1500"/>
            </a:b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The items are added to cart for checkout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5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6078960" y="0"/>
            <a:ext cx="41810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98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99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Makeup Booking View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00"/>
          <p:cNvSpPr/>
          <p:nvPr/>
        </p:nvSpPr>
        <p:spPr>
          <a:xfrm>
            <a:off x="540000" y="1980000"/>
            <a:ext cx="5940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Book makeup sesssion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1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" descr=""/>
          <p:cNvPicPr/>
          <p:nvPr/>
        </p:nvPicPr>
        <p:blipFill>
          <a:blip r:embed="rId1"/>
          <a:stretch/>
        </p:blipFill>
        <p:spPr>
          <a:xfrm>
            <a:off x="5220000" y="0"/>
            <a:ext cx="5714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86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87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Cart View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88"/>
          <p:cNvSpPr/>
          <p:nvPr/>
        </p:nvSpPr>
        <p:spPr>
          <a:xfrm>
            <a:off x="540000" y="1980000"/>
            <a:ext cx="5940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Manage the cart items for checkout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9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" descr=""/>
          <p:cNvPicPr/>
          <p:nvPr/>
        </p:nvPicPr>
        <p:blipFill>
          <a:blip r:embed="rId1"/>
          <a:stretch/>
        </p:blipFill>
        <p:spPr>
          <a:xfrm>
            <a:off x="4523040" y="411480"/>
            <a:ext cx="7669080" cy="55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90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1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Customer Login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92"/>
          <p:cNvSpPr/>
          <p:nvPr/>
        </p:nvSpPr>
        <p:spPr>
          <a:xfrm>
            <a:off x="540000" y="1980000"/>
            <a:ext cx="5940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Login / Register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93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1"/>
          <a:stretch/>
        </p:blipFill>
        <p:spPr>
          <a:xfrm>
            <a:off x="3895560" y="0"/>
            <a:ext cx="8296560" cy="63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94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95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Customer Profile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96"/>
          <p:cNvSpPr/>
          <p:nvPr/>
        </p:nvSpPr>
        <p:spPr>
          <a:xfrm>
            <a:off x="540000" y="1980000"/>
            <a:ext cx="3960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Customer can manage the orders and profile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97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" descr=""/>
          <p:cNvPicPr/>
          <p:nvPr/>
        </p:nvPicPr>
        <p:blipFill>
          <a:blip r:embed="rId1"/>
          <a:stretch/>
        </p:blipFill>
        <p:spPr>
          <a:xfrm>
            <a:off x="5040000" y="360"/>
            <a:ext cx="50212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45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 Administration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8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Screens for Admin Portal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9"/>
          <p:cNvSpPr/>
          <p:nvPr/>
        </p:nvSpPr>
        <p:spPr>
          <a:xfrm>
            <a:off x="360000" y="3045960"/>
            <a:ext cx="359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Login for Admin Portal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3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" descr=""/>
          <p:cNvPicPr/>
          <p:nvPr/>
        </p:nvPicPr>
        <p:blipFill>
          <a:blip r:embed="rId1"/>
          <a:stretch/>
        </p:blipFill>
        <p:spPr>
          <a:xfrm>
            <a:off x="4196160" y="1620000"/>
            <a:ext cx="7854840" cy="39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66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 Administration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7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Screens for Admin Portal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8"/>
          <p:cNvSpPr/>
          <p:nvPr/>
        </p:nvSpPr>
        <p:spPr>
          <a:xfrm>
            <a:off x="368640" y="2340000"/>
            <a:ext cx="557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Dashboard for Admin Portal</a:t>
            </a:r>
            <a:br>
              <a:rPr sz="1500"/>
            </a:br>
            <a:br>
              <a:rPr sz="1500"/>
            </a:b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The dashboard provides overview of how the operations and sales are functioning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9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1"/>
          <a:stretch/>
        </p:blipFill>
        <p:spPr>
          <a:xfrm>
            <a:off x="6409080" y="85320"/>
            <a:ext cx="5290560" cy="6735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40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 Administration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41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Screens for Admin Portal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6"/>
          <p:cNvSpPr/>
          <p:nvPr/>
        </p:nvSpPr>
        <p:spPr>
          <a:xfrm>
            <a:off x="368640" y="2340000"/>
            <a:ext cx="503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Analytics for Admin Portal</a:t>
            </a:r>
            <a:br>
              <a:rPr sz="1500"/>
            </a:br>
            <a:br>
              <a:rPr sz="1500"/>
            </a:b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The analytics provides complete statistical overview of how the system is functioning.</a:t>
            </a:r>
            <a:br>
              <a:rPr sz="1200"/>
            </a:br>
            <a:br>
              <a:rPr sz="1200"/>
            </a:b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Major analytics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   - Revenue over Time</a:t>
            </a:r>
            <a:br>
              <a:rPr sz="1200"/>
            </a:b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   - Top Selling Products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   - Rental and Makeup Bookings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   - Use Acquisition Trend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7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" descr=""/>
          <p:cNvPicPr/>
          <p:nvPr/>
        </p:nvPicPr>
        <p:blipFill>
          <a:blip r:embed="rId1"/>
          <a:stretch/>
        </p:blipFill>
        <p:spPr>
          <a:xfrm>
            <a:off x="5474160" y="360"/>
            <a:ext cx="676548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50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 Administration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51"/>
          <p:cNvSpPr/>
          <p:nvPr/>
        </p:nvSpPr>
        <p:spPr>
          <a:xfrm>
            <a:off x="548640" y="713160"/>
            <a:ext cx="485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Screens for Admin Portal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2"/>
          <p:cNvSpPr/>
          <p:nvPr/>
        </p:nvSpPr>
        <p:spPr>
          <a:xfrm>
            <a:off x="540000" y="1620000"/>
            <a:ext cx="4859640" cy="30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Orders View in Admin Portal</a:t>
            </a:r>
            <a:br>
              <a:rPr sz="1500"/>
            </a:br>
            <a:br>
              <a:rPr sz="1500"/>
            </a:b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Manage the purchase and rental orders from one screen.</a:t>
            </a:r>
            <a:br>
              <a:rPr sz="1200"/>
            </a:br>
            <a:br>
              <a:rPr sz="1200"/>
            </a:b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   - View all the orders from the customers and the order details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   - Process the orders through a streamlined workflow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   - The customer gets notified when the order processing is done.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53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" descr=""/>
          <p:cNvPicPr/>
          <p:nvPr/>
        </p:nvPicPr>
        <p:blipFill>
          <a:blip r:embed="rId1"/>
          <a:stretch/>
        </p:blipFill>
        <p:spPr>
          <a:xfrm>
            <a:off x="5426280" y="0"/>
            <a:ext cx="676548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54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 Administration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5"/>
          <p:cNvSpPr/>
          <p:nvPr/>
        </p:nvSpPr>
        <p:spPr>
          <a:xfrm>
            <a:off x="548640" y="713160"/>
            <a:ext cx="485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Screens for Admin Portal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6"/>
          <p:cNvSpPr/>
          <p:nvPr/>
        </p:nvSpPr>
        <p:spPr>
          <a:xfrm>
            <a:off x="540000" y="1800000"/>
            <a:ext cx="4499640" cy="30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Rental Heatmap View in Admin Portal</a:t>
            </a:r>
            <a:br>
              <a:rPr sz="1500"/>
            </a:br>
            <a:br>
              <a:rPr sz="1500"/>
            </a:b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Plan and manage the rental orders using the rental heatmap</a:t>
            </a:r>
            <a:br>
              <a:rPr sz="1200"/>
            </a:br>
            <a:br>
              <a:rPr sz="1200"/>
            </a:b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   - Display when the rentals bookings and date of bookings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   - Manage the rental bookings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7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" descr=""/>
          <p:cNvPicPr/>
          <p:nvPr/>
        </p:nvPicPr>
        <p:blipFill>
          <a:blip r:embed="rId1"/>
          <a:stretch/>
        </p:blipFill>
        <p:spPr>
          <a:xfrm>
            <a:off x="5220000" y="1620000"/>
            <a:ext cx="6712200" cy="386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58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 Administration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59"/>
          <p:cNvSpPr/>
          <p:nvPr/>
        </p:nvSpPr>
        <p:spPr>
          <a:xfrm>
            <a:off x="548640" y="713160"/>
            <a:ext cx="485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Screens for Admin Portal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60"/>
          <p:cNvSpPr/>
          <p:nvPr/>
        </p:nvSpPr>
        <p:spPr>
          <a:xfrm>
            <a:off x="540000" y="1800000"/>
            <a:ext cx="4499640" cy="30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Deposits View in Admin Portal</a:t>
            </a:r>
            <a:br>
              <a:rPr sz="1500"/>
            </a:br>
            <a:br>
              <a:rPr sz="1500"/>
            </a:b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Manage the rental deposits</a:t>
            </a:r>
            <a:br>
              <a:rPr sz="1200"/>
            </a:br>
            <a:br>
              <a:rPr sz="1200"/>
            </a:b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   - When rental bookings are made, the deposits for the rentals are managed here.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   - Refund the rental deposit when the rentals are returned.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1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" descr=""/>
          <p:cNvPicPr/>
          <p:nvPr/>
        </p:nvPicPr>
        <p:blipFill>
          <a:blip r:embed="rId1"/>
          <a:stretch/>
        </p:blipFill>
        <p:spPr>
          <a:xfrm>
            <a:off x="5040000" y="357120"/>
            <a:ext cx="7151760" cy="5617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 62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Store Administration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3"/>
          <p:cNvSpPr/>
          <p:nvPr/>
        </p:nvSpPr>
        <p:spPr>
          <a:xfrm>
            <a:off x="548640" y="713160"/>
            <a:ext cx="485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Screens for Admin Portal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4"/>
          <p:cNvSpPr/>
          <p:nvPr/>
        </p:nvSpPr>
        <p:spPr>
          <a:xfrm>
            <a:off x="540000" y="1800000"/>
            <a:ext cx="4499640" cy="30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Makeup Sessions View in Admin Portal</a:t>
            </a:r>
            <a:br>
              <a:rPr sz="1500"/>
            </a:br>
            <a:br>
              <a:rPr sz="1500"/>
            </a:br>
            <a:r>
              <a:rPr b="0" i="1" lang="en-US" sz="15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Manage the sessions for makeup bookings</a:t>
            </a:r>
            <a:br>
              <a:rPr sz="1200"/>
            </a:br>
            <a:br>
              <a:rPr sz="1200"/>
            </a:br>
            <a:r>
              <a:rPr b="0" i="1" lang="en-US" sz="120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   - The bookings for makeup sessions can be managed from here.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65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4694040" y="1620000"/>
            <a:ext cx="7503480" cy="3782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548640" y="4114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THE INVESTMENT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548640" y="713160"/>
            <a:ext cx="10789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A complete platform, priced simply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"/>
          <p:cNvSpPr/>
          <p:nvPr/>
        </p:nvSpPr>
        <p:spPr>
          <a:xfrm>
            <a:off x="548640" y="1783080"/>
            <a:ext cx="6491520" cy="3931200"/>
          </a:xfrm>
          <a:prstGeom prst="roundRect">
            <a:avLst>
              <a:gd name="adj" fmla="val 2326"/>
            </a:avLst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914400" y="2057400"/>
            <a:ext cx="576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d4af37"/>
                </a:solidFill>
                <a:effectLst/>
                <a:uFillTx/>
                <a:latin typeface="Calibri"/>
                <a:ea typeface="Calibri"/>
              </a:rPr>
              <a:t>SOFTWARE PACKAGE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914400" y="2377440"/>
            <a:ext cx="5760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₹2,00,000</a:t>
            </a:r>
            <a:endParaRPr b="0" lang="en-IN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914400" y="3246120"/>
            <a:ext cx="576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e9dff7"/>
                </a:solidFill>
                <a:effectLst/>
                <a:uFillTx/>
                <a:latin typeface="Calibri"/>
                <a:ea typeface="Calibri"/>
              </a:rPr>
              <a:t>One-time licence — full platform, ready to launch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914400" y="3749040"/>
            <a:ext cx="5760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 Website + mobile app for customers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914400" y="4078080"/>
            <a:ext cx="5760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 Admin dashboard + staff mobile app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914400" y="4407480"/>
            <a:ext cx="5760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 Rental booking &amp; inventory engine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914400" y="4736520"/>
            <a:ext cx="5760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 Payments (online + COD) configured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0"/>
          <p:cNvSpPr/>
          <p:nvPr/>
        </p:nvSpPr>
        <p:spPr>
          <a:xfrm>
            <a:off x="914400" y="5065920"/>
            <a:ext cx="5760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 Setup, onboarding &amp; training included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914400" y="5394960"/>
            <a:ext cx="5760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 Support during initial launch period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2"/>
          <p:cNvSpPr/>
          <p:nvPr/>
        </p:nvSpPr>
        <p:spPr>
          <a:xfrm>
            <a:off x="7269480" y="1783080"/>
            <a:ext cx="4388400" cy="1828080"/>
          </a:xfrm>
          <a:prstGeom prst="roundRect">
            <a:avLst>
              <a:gd name="adj" fmla="val 5000"/>
            </a:avLst>
          </a:prstGeom>
          <a:solidFill>
            <a:srgbClr val="f6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7543800" y="196596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5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FLEXIBLE TERMS</a:t>
            </a:r>
            <a:endParaRPr b="0" lang="en-IN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4"/>
          <p:cNvSpPr/>
          <p:nvPr/>
        </p:nvSpPr>
        <p:spPr>
          <a:xfrm>
            <a:off x="7543800" y="2286000"/>
            <a:ext cx="3931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Monthly instalment plans available — no need to pay the full amount upfront. See the attached quotation for 3 / 6 / 9 / 12-month options.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5"/>
          <p:cNvSpPr/>
          <p:nvPr/>
        </p:nvSpPr>
        <p:spPr>
          <a:xfrm>
            <a:off x="7269480" y="3794760"/>
            <a:ext cx="4388400" cy="1919520"/>
          </a:xfrm>
          <a:prstGeom prst="roundRect">
            <a:avLst>
              <a:gd name="adj" fmla="val 4762"/>
            </a:avLst>
          </a:prstGeom>
          <a:solidFill>
            <a:srgbClr val="f6f3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6"/>
          <p:cNvSpPr/>
          <p:nvPr/>
        </p:nvSpPr>
        <p:spPr>
          <a:xfrm>
            <a:off x="7543800" y="39776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50" strike="noStrike" u="none">
                <a:solidFill>
                  <a:srgbClr val="4a148c"/>
                </a:solidFill>
                <a:effectLst/>
                <a:uFillTx/>
                <a:latin typeface="Calibri"/>
                <a:ea typeface="Calibri"/>
              </a:rPr>
              <a:t>SOURCE CODE (OPTIONAL)</a:t>
            </a:r>
            <a:endParaRPr b="0" lang="en-IN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7"/>
          <p:cNvSpPr/>
          <p:nvPr/>
        </p:nvSpPr>
        <p:spPr>
          <a:xfrm>
            <a:off x="7543800" y="4297680"/>
            <a:ext cx="39312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Full ownership of the source code is priced separately, on top of the software package — for those who want complete, unrestricted control of the codebase. Details in the quotation.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8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e0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-2700000" y="4680000"/>
            <a:ext cx="5485680" cy="5485680"/>
          </a:xfrm>
          <a:prstGeom prst="ellipse">
            <a:avLst/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640080" y="128016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d4af37"/>
                </a:solidFill>
                <a:effectLst/>
                <a:uFillTx/>
                <a:latin typeface="Calibri"/>
                <a:ea typeface="Calibri"/>
              </a:rPr>
              <a:t>LET'S TAKE SARANGI JEWELS ONLINE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594360" y="1645920"/>
            <a:ext cx="9143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simple next step</a:t>
            </a:r>
            <a:endParaRPr b="0" lang="en-IN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3"/>
          <p:cNvSpPr/>
          <p:nvPr/>
        </p:nvSpPr>
        <p:spPr>
          <a:xfrm>
            <a:off x="640080" y="2788920"/>
            <a:ext cx="410760" cy="41076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640080" y="278892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e0a57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5"/>
          <p:cNvSpPr/>
          <p:nvPr/>
        </p:nvSpPr>
        <p:spPr>
          <a:xfrm>
            <a:off x="1234440" y="2816280"/>
            <a:ext cx="8686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Review the attached quotation and sale agreement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6"/>
          <p:cNvSpPr/>
          <p:nvPr/>
        </p:nvSpPr>
        <p:spPr>
          <a:xfrm>
            <a:off x="640080" y="3447360"/>
            <a:ext cx="410760" cy="41076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7"/>
          <p:cNvSpPr/>
          <p:nvPr/>
        </p:nvSpPr>
        <p:spPr>
          <a:xfrm>
            <a:off x="640080" y="344736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e0a57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1234440" y="3474720"/>
            <a:ext cx="8686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Choose full payment or a monthly instalment plan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9"/>
          <p:cNvSpPr/>
          <p:nvPr/>
        </p:nvSpPr>
        <p:spPr>
          <a:xfrm>
            <a:off x="640080" y="4105800"/>
            <a:ext cx="410760" cy="41076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0"/>
          <p:cNvSpPr/>
          <p:nvPr/>
        </p:nvSpPr>
        <p:spPr>
          <a:xfrm>
            <a:off x="640080" y="41058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e0a57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1"/>
          <p:cNvSpPr/>
          <p:nvPr/>
        </p:nvSpPr>
        <p:spPr>
          <a:xfrm>
            <a:off x="1234440" y="4133160"/>
            <a:ext cx="8686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 configure, load your catalog, and go live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2"/>
          <p:cNvSpPr/>
          <p:nvPr/>
        </p:nvSpPr>
        <p:spPr>
          <a:xfrm>
            <a:off x="640080" y="4763880"/>
            <a:ext cx="410760" cy="41076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3"/>
          <p:cNvSpPr/>
          <p:nvPr/>
        </p:nvSpPr>
        <p:spPr>
          <a:xfrm>
            <a:off x="640080" y="476388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e0a57"/>
                </a:solidFill>
                <a:effectLst/>
                <a:uFillTx/>
                <a:latin typeface="Cambria"/>
                <a:ea typeface="Cambria"/>
              </a:rPr>
              <a:t>4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4"/>
          <p:cNvSpPr/>
          <p:nvPr/>
        </p:nvSpPr>
        <p:spPr>
          <a:xfrm>
            <a:off x="1234440" y="4791600"/>
            <a:ext cx="8686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Your team gets hands-on training before launch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5"/>
          <p:cNvSpPr/>
          <p:nvPr/>
        </p:nvSpPr>
        <p:spPr>
          <a:xfrm>
            <a:off x="640080" y="5806440"/>
            <a:ext cx="2743200" cy="360"/>
          </a:xfrm>
          <a:prstGeom prst="line">
            <a:avLst/>
          </a:prstGeom>
          <a:ln w="25400">
            <a:solidFill>
              <a:srgbClr val="d4af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6"/>
          <p:cNvSpPr/>
          <p:nvPr/>
        </p:nvSpPr>
        <p:spPr>
          <a:xfrm>
            <a:off x="640080" y="59436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d9cbef"/>
                </a:solidFill>
                <a:effectLst/>
                <a:uFillTx/>
                <a:latin typeface="Calibri"/>
                <a:ea typeface="Calibri"/>
              </a:rPr>
              <a:t>Thank you for considering this partnership.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7"/>
          <p:cNvSpPr/>
          <p:nvPr/>
        </p:nvSpPr>
        <p:spPr>
          <a:xfrm>
            <a:off x="1136592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9b7e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b="0" lang="en-IN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2026-09-12T03:19:19Z</dcterms:created>
  <dc:creator>PptxGenJS</dc:creator>
  <dc:description/>
  <dc:language>en-IN</dc:language>
  <cp:lastModifiedBy/>
  <dcterms:modified xsi:type="dcterms:W3CDTF">2026-09-12T18:01:03Z</dcterms:modified>
  <cp:revision>14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